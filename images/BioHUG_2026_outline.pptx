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571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D42B30-D97A-46CA-BC8A-FCC906E17CB6}" v="5" dt="2026-03-16T13:31:59.132"/>
    <p1510:client id="{EAF503EA-7209-442E-8CCA-FECB35F98745}" v="1" dt="2026-03-16T16:30:22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y Frayling" userId="908e9b62-0ddc-4e77-ae13-d8e4745ca167" providerId="ADAL" clId="{A5C0382B-3580-4118-9DE7-F28BF1207A22}"/>
    <pc:docChg chg="delSld modSld">
      <pc:chgData name="Timothy Frayling" userId="908e9b62-0ddc-4e77-ae13-d8e4745ca167" providerId="ADAL" clId="{A5C0382B-3580-4118-9DE7-F28BF1207A22}" dt="2026-03-16T16:30:57.515" v="4" actId="167"/>
      <pc:docMkLst>
        <pc:docMk/>
      </pc:docMkLst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236302531" sldId="1461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494929559" sldId="1474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1359345935" sldId="1475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2838780887" sldId="1492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2589074100" sldId="1496"/>
        </pc:sldMkLst>
      </pc:sldChg>
      <pc:sldChg chg="del">
        <pc:chgData name="Timothy Frayling" userId="908e9b62-0ddc-4e77-ae13-d8e4745ca167" providerId="ADAL" clId="{A5C0382B-3580-4118-9DE7-F28BF1207A22}" dt="2026-03-16T14:52:36.166" v="1" actId="47"/>
        <pc:sldMkLst>
          <pc:docMk/>
          <pc:sldMk cId="1147573563" sldId="1504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2978643412" sldId="1507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4127097114" sldId="1510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2822170508" sldId="1513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2027612069" sldId="1514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1660925219" sldId="1515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1886236597" sldId="1518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1827097887" sldId="1519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1247497048" sldId="1525"/>
        </pc:sldMkLst>
      </pc:sldChg>
      <pc:sldChg chg="del">
        <pc:chgData name="Timothy Frayling" userId="908e9b62-0ddc-4e77-ae13-d8e4745ca167" providerId="ADAL" clId="{A5C0382B-3580-4118-9DE7-F28BF1207A22}" dt="2026-03-16T14:52:36.166" v="1" actId="47"/>
        <pc:sldMkLst>
          <pc:docMk/>
          <pc:sldMk cId="3674887184" sldId="1526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2827187235" sldId="1527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1040553819" sldId="1528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215605588" sldId="1529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1789521100" sldId="1530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720245117" sldId="1531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18966930" sldId="1533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839984218" sldId="1534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54704616" sldId="1535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037229154" sldId="1536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983796710" sldId="1537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3264133200" sldId="1564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520501158" sldId="1565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932079287" sldId="1566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2860625221" sldId="1567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82046799" sldId="1569"/>
        </pc:sldMkLst>
      </pc:sldChg>
      <pc:sldChg chg="del">
        <pc:chgData name="Timothy Frayling" userId="908e9b62-0ddc-4e77-ae13-d8e4745ca167" providerId="ADAL" clId="{A5C0382B-3580-4118-9DE7-F28BF1207A22}" dt="2026-03-16T14:52:31.387" v="0" actId="47"/>
        <pc:sldMkLst>
          <pc:docMk/>
          <pc:sldMk cId="580386163" sldId="1570"/>
        </pc:sldMkLst>
      </pc:sldChg>
      <pc:sldChg chg="delSp modSp mod">
        <pc:chgData name="Timothy Frayling" userId="908e9b62-0ddc-4e77-ae13-d8e4745ca167" providerId="ADAL" clId="{A5C0382B-3580-4118-9DE7-F28BF1207A22}" dt="2026-03-16T16:30:57.515" v="4" actId="167"/>
        <pc:sldMkLst>
          <pc:docMk/>
          <pc:sldMk cId="1153710460" sldId="1571"/>
        </pc:sldMkLst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4" creationId="{72B1A42E-9BF8-0BB2-736A-986A86DEBF46}"/>
          </ac:spMkLst>
        </pc:spChg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5" creationId="{400CA1CC-538E-74C2-6C21-E15D2065DE4E}"/>
          </ac:spMkLst>
        </pc:spChg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6" creationId="{C4AB1E9D-7505-D906-2A2D-1CAE02D7DA4B}"/>
          </ac:spMkLst>
        </pc:spChg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7" creationId="{911C34E2-CB6C-6F78-AA42-26C1A6C166AF}"/>
          </ac:spMkLst>
        </pc:spChg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8" creationId="{1B317409-FD99-22EC-1874-605AE83E3F9B}"/>
          </ac:spMkLst>
        </pc:spChg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9" creationId="{AFC1C290-9807-3A2B-9D21-D7C68DCEB18E}"/>
          </ac:spMkLst>
        </pc:spChg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10" creationId="{41234844-4281-8FB5-EF9F-FC764951EA8D}"/>
          </ac:spMkLst>
        </pc:spChg>
        <pc:spChg chg="mod topLvl">
          <ac:chgData name="Timothy Frayling" userId="908e9b62-0ddc-4e77-ae13-d8e4745ca167" providerId="ADAL" clId="{A5C0382B-3580-4118-9DE7-F28BF1207A22}" dt="2026-03-16T16:30:22.222" v="2" actId="165"/>
          <ac:spMkLst>
            <pc:docMk/>
            <pc:sldMk cId="1153710460" sldId="1571"/>
            <ac:spMk id="12" creationId="{31EE2F3E-9CF4-7333-156F-9A0CAE0C33AF}"/>
          </ac:spMkLst>
        </pc:spChg>
        <pc:spChg chg="mod ord topLvl">
          <ac:chgData name="Timothy Frayling" userId="908e9b62-0ddc-4e77-ae13-d8e4745ca167" providerId="ADAL" clId="{A5C0382B-3580-4118-9DE7-F28BF1207A22}" dt="2026-03-16T16:30:57.515" v="4" actId="167"/>
          <ac:spMkLst>
            <pc:docMk/>
            <pc:sldMk cId="1153710460" sldId="1571"/>
            <ac:spMk id="35" creationId="{0DF04722-CBE3-DE3E-C3C7-C0EBBC38D133}"/>
          </ac:spMkLst>
        </pc:spChg>
        <pc:picChg chg="mod topLvl">
          <ac:chgData name="Timothy Frayling" userId="908e9b62-0ddc-4e77-ae13-d8e4745ca167" providerId="ADAL" clId="{A5C0382B-3580-4118-9DE7-F28BF1207A22}" dt="2026-03-16T16:30:22.222" v="2" actId="165"/>
          <ac:picMkLst>
            <pc:docMk/>
            <pc:sldMk cId="1153710460" sldId="1571"/>
            <ac:picMk id="16" creationId="{502C11BE-F38D-4F50-F3AE-1FE7E17EE4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81175-E6D0-420E-864C-E1D16DCC68A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49000-705B-4D62-88EE-B351840FF5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76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563A-077A-5D28-C1CB-28987C7B9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0B144-103C-13CE-C327-6AB31DB9C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79A93-188B-2A1F-49CB-E35C929E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4A1EA-7F09-510C-3325-629E5C75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96287-CCBD-C4CC-5F51-66835D72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9374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1487-B233-A3D4-6257-BC041F9A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EC8B-3ECE-1A73-9A8A-90166EBBD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8A39-36AB-69C5-1990-9C94C8F2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AA06A-C173-E943-0AC7-7CA3F90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D8122-A033-26F4-C0E0-DB6FD69E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5313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9A6E-E534-6E72-217C-81CF6B4C2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39FA0-3FBD-4418-BC05-8724C0CE5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1089B-7207-5BC8-E8CA-2A267E35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9419E-F2A9-B7BD-1C5F-7D5934F2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0E68-F9B4-7C23-D5D0-75BF4BC0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4617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25A5-53BD-8891-F2C4-6916A22B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405D3-4D52-191F-982B-84E66EEFD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7A3A3-6DCF-BA02-E951-B2ED1A64C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7614F-AD6E-413C-AF92-81543F25D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3EFF8-826C-CD65-F8F6-EA125BC6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E5037-A76B-15BF-B767-0BF374BE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7145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A29F-1B79-E503-1929-96FBCE913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E8CC0-6662-03F2-5261-2BEF48DD6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C4E01-6684-4B75-30CA-28303C49A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677E0-74DA-4974-AF18-56DD98164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2D88E-50FE-8B9F-D884-00434B0FD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F8D10-E778-7E5E-B824-552EEEBF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E1318-8626-D07E-7DB5-52CC9A01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6C4B7-9F6C-8E18-9D07-2B02498F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4699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0D5A-3E6D-85EB-AB69-953355CA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6A545-44A9-75D7-E1C4-209FE2AAC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96CE4-10A7-232C-7934-1B876BB8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88B79-C16C-E09C-7973-9FE5708D3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228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69D91-45F4-B974-01A6-861DF938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2D0FB-77E8-87CD-7A1B-3850A657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E7F8E-D917-1B9D-A385-4333E259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252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2EE69-9C0A-8367-7440-C6DA9663F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53CE-B8EE-2C94-E97D-F3D2DC515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BB1CF-D41F-2833-AC79-A1B0B4971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7CC44-7D13-DE65-0E2E-34D0C255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EB0FE-8BAD-DB06-4D3C-F16E6273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66EAC-C6B3-07A9-CFF7-C2D6DF41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5776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7C17-3DB8-EC4D-69D8-6256F6E08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AD1D1-30DE-CD32-A1EF-02C38FBFC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4D260-CEC5-C660-1042-A10949FD7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4CAF6-A4C8-644C-D1E3-8F9FF0AF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15038-F9CF-0731-1C1F-EA9C03B9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A36CC-D748-998A-4449-7F42DBF0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04858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97812-2EBC-3E78-DD7B-A653C083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E9D8A-47BC-06BD-80FF-C7565BDBF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2EEE-C219-F31B-749F-37A24F43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04EB6-8807-AE31-7661-CBF20A72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675BC-4D24-FE1E-2D93-47CC8AB1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8764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FF2ED-90CA-BBD7-BA6F-275AA70EA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0A10A-FC45-EE55-9337-AD9DA2C5C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8AB05-EC6C-65D6-FFF5-50632285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3D02B-112D-CE73-B0C6-F8272D8B3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FA03E-4B59-8E12-824B-A1188225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2762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924DC-704A-C12D-B19B-B4E2428B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CB187-C3FA-131E-0940-F7340AB1C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705C9-6EF6-14D3-8087-A461A019D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C1758-3EF6-4651-BAE7-7899B4FD9708}" type="datetimeFigureOut">
              <a:rPr lang="en-CH" smtClean="0"/>
              <a:t>16/03/2026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B243D-F748-23A5-CECA-67AED4952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CA6C6-5606-9F7F-DE91-3B11A30E6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BF1B3-B86E-4353-A8BB-6469B42B280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699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A8A5-6FFD-7CD4-DD00-1283CF6D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0DF04722-CBE3-DE3E-C3C7-C0EBBC38D133}"/>
              </a:ext>
            </a:extLst>
          </p:cNvPr>
          <p:cNvSpPr txBox="1"/>
          <p:nvPr/>
        </p:nvSpPr>
        <p:spPr>
          <a:xfrm flipH="1">
            <a:off x="416287" y="470379"/>
            <a:ext cx="9643945" cy="613997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GB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ABD44-7674-3F7A-54D4-EC979D7B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16" y="176930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b="1" dirty="0" err="1"/>
              <a:t>BioHUG</a:t>
            </a:r>
            <a:r>
              <a:rPr lang="en-GB" sz="2800" b="1" dirty="0"/>
              <a:t>: A DNA biobank for research with HUG patients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1A42E-9BF8-0BB2-736A-986A86DEBF46}"/>
              </a:ext>
            </a:extLst>
          </p:cNvPr>
          <p:cNvSpPr txBox="1"/>
          <p:nvPr/>
        </p:nvSpPr>
        <p:spPr>
          <a:xfrm flipH="1">
            <a:off x="740138" y="1477840"/>
            <a:ext cx="4875170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Individuals sign General consent </a:t>
            </a:r>
            <a:r>
              <a:rPr lang="en-GB" sz="1400" dirty="0"/>
              <a:t>(anytime since 2017)</a:t>
            </a:r>
          </a:p>
          <a:p>
            <a:r>
              <a:rPr lang="en-GB" sz="1400" dirty="0"/>
              <a:t>Invited 2 weeks before HUG appointment</a:t>
            </a:r>
          </a:p>
          <a:p>
            <a:r>
              <a:rPr lang="en-GB" sz="1400" dirty="0"/>
              <a:t>&gt;150,000 signed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A1CC-538E-74C2-6C21-E15D2065DE4E}"/>
              </a:ext>
            </a:extLst>
          </p:cNvPr>
          <p:cNvSpPr txBox="1"/>
          <p:nvPr/>
        </p:nvSpPr>
        <p:spPr>
          <a:xfrm flipH="1">
            <a:off x="740136" y="3193878"/>
            <a:ext cx="3929673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HUG Informatics Centre </a:t>
            </a:r>
          </a:p>
          <a:p>
            <a:r>
              <a:rPr lang="en-GB" sz="1400" dirty="0"/>
              <a:t>Patient ID in DPI system -&gt; Diagnostics informatics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B1E9D-7505-D906-2A2D-1CAE02D7DA4B}"/>
              </a:ext>
            </a:extLst>
          </p:cNvPr>
          <p:cNvSpPr txBox="1"/>
          <p:nvPr/>
        </p:nvSpPr>
        <p:spPr>
          <a:xfrm flipH="1">
            <a:off x="6418809" y="3194158"/>
            <a:ext cx="336249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Haematology  HUG</a:t>
            </a:r>
          </a:p>
          <a:p>
            <a:r>
              <a:rPr lang="en-GB" sz="1400" dirty="0"/>
              <a:t>Sample flagged if patient has signed general consent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C34E2-CB6C-6F78-AA42-26C1A6C166AF}"/>
              </a:ext>
            </a:extLst>
          </p:cNvPr>
          <p:cNvSpPr txBox="1"/>
          <p:nvPr/>
        </p:nvSpPr>
        <p:spPr>
          <a:xfrm flipH="1">
            <a:off x="6369049" y="1480115"/>
            <a:ext cx="341225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Routine blood sample HUG</a:t>
            </a:r>
            <a:r>
              <a:rPr lang="en-GB" sz="1400" dirty="0"/>
              <a:t> (anytime since 2025)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17409-FD99-22EC-1874-605AE83E3F9B}"/>
              </a:ext>
            </a:extLst>
          </p:cNvPr>
          <p:cNvSpPr txBox="1"/>
          <p:nvPr/>
        </p:nvSpPr>
        <p:spPr>
          <a:xfrm flipH="1">
            <a:off x="7800111" y="2357279"/>
            <a:ext cx="2084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Purple top EDTA tube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C1C290-9807-3A2B-9D21-D7C68DCEB18E}"/>
              </a:ext>
            </a:extLst>
          </p:cNvPr>
          <p:cNvSpPr txBox="1"/>
          <p:nvPr/>
        </p:nvSpPr>
        <p:spPr>
          <a:xfrm flipH="1">
            <a:off x="6418809" y="4722641"/>
            <a:ext cx="3362499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Medical Genetics HUG</a:t>
            </a:r>
          </a:p>
          <a:p>
            <a:r>
              <a:rPr lang="en-GB" sz="1400" dirty="0"/>
              <a:t>DNA extracted from 400 ul blood, ~250 per week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34844-4281-8FB5-EF9F-FC764951EA8D}"/>
              </a:ext>
            </a:extLst>
          </p:cNvPr>
          <p:cNvSpPr txBox="1"/>
          <p:nvPr/>
        </p:nvSpPr>
        <p:spPr>
          <a:xfrm flipH="1">
            <a:off x="7807957" y="4061725"/>
            <a:ext cx="2252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Purple top EDTA tube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C9D2F1-3D11-63B9-DBFF-D08F5F2DA33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704972" y="2216504"/>
            <a:ext cx="0" cy="9773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96C8EA-0E13-B1E7-3748-FE44AC75B845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4669809" y="3563210"/>
            <a:ext cx="1749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17AA21-A22E-4358-55C4-735242F465B1}"/>
              </a:ext>
            </a:extLst>
          </p:cNvPr>
          <p:cNvCxnSpPr>
            <a:cxnSpLocks/>
          </p:cNvCxnSpPr>
          <p:nvPr/>
        </p:nvCxnSpPr>
        <p:spPr>
          <a:xfrm>
            <a:off x="7800111" y="2003335"/>
            <a:ext cx="0" cy="11905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643AE2-0AEA-0BDF-6CE1-2FC7B3FA3EAD}"/>
              </a:ext>
            </a:extLst>
          </p:cNvPr>
          <p:cNvCxnSpPr>
            <a:cxnSpLocks/>
          </p:cNvCxnSpPr>
          <p:nvPr/>
        </p:nvCxnSpPr>
        <p:spPr>
          <a:xfrm>
            <a:off x="7807957" y="3932822"/>
            <a:ext cx="1" cy="7898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EE2F3E-9CF4-7333-156F-9A0CAE0C33AF}"/>
              </a:ext>
            </a:extLst>
          </p:cNvPr>
          <p:cNvSpPr txBox="1"/>
          <p:nvPr/>
        </p:nvSpPr>
        <p:spPr>
          <a:xfrm flipH="1">
            <a:off x="6418809" y="5860833"/>
            <a:ext cx="336249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err="1"/>
              <a:t>BioHUG</a:t>
            </a:r>
            <a:r>
              <a:rPr lang="en-GB" sz="1400" dirty="0"/>
              <a:t> de-identified DNA Biobank for research</a:t>
            </a:r>
          </a:p>
        </p:txBody>
      </p:sp>
      <p:pic>
        <p:nvPicPr>
          <p:cNvPr id="16" name="Picture 15" descr="A close-up of a certificate&#10;&#10;Description automatically generated">
            <a:extLst>
              <a:ext uri="{FF2B5EF4-FFF2-40B4-BE49-F238E27FC236}">
                <a16:creationId xmlns:a16="http://schemas.microsoft.com/office/drawing/2014/main" id="{502C11BE-F38D-4F50-F3AE-1FE7E17EE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68" y="4275250"/>
            <a:ext cx="1926766" cy="163344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B2C666-4703-BA8D-593B-006F9925B4CF}"/>
              </a:ext>
            </a:extLst>
          </p:cNvPr>
          <p:cNvCxnSpPr>
            <a:cxnSpLocks/>
          </p:cNvCxnSpPr>
          <p:nvPr/>
        </p:nvCxnSpPr>
        <p:spPr>
          <a:xfrm>
            <a:off x="7807957" y="5465923"/>
            <a:ext cx="0" cy="394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1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adf41c3-ef0b-4f63-9e7f-4c5773baf891}" enabled="0" method="" siteId="{dadf41c3-ef0b-4f63-9e7f-4c5773baf8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2501</TotalTime>
  <Words>89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BioHUG: A DNA biobank for research with HUG patients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Frayling</dc:creator>
  <cp:lastModifiedBy>Timothy Frayling</cp:lastModifiedBy>
  <cp:revision>5</cp:revision>
  <dcterms:created xsi:type="dcterms:W3CDTF">2025-02-07T11:10:00Z</dcterms:created>
  <dcterms:modified xsi:type="dcterms:W3CDTF">2026-03-16T16:31:07Z</dcterms:modified>
</cp:coreProperties>
</file>